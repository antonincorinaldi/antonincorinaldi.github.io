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4"/>
  </p:sldMasterIdLst>
  <p:notesMasterIdLst>
    <p:notesMasterId r:id="rId5"/>
  </p:notesMasterIdLst>
  <p:sldIdLst>
    <p:sldId id="256" r:id="rId6"/>
  </p:sldIdLst>
  <p:sldSz cy="3460750" cx="4610100"/>
  <p:notesSz cx="4610100" cy="34607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1997075" cy="173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2611438" y="0"/>
            <a:ext cx="1997075" cy="173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3287713"/>
            <a:ext cx="1997075" cy="173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4a27ef489_0_52:notes"/>
          <p:cNvSpPr/>
          <p:nvPr>
            <p:ph idx="2" type="sldImg"/>
          </p:nvPr>
        </p:nvSpPr>
        <p:spPr>
          <a:xfrm>
            <a:off x="1527175" y="433388"/>
            <a:ext cx="1555800" cy="116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4a27ef489_0_52:notes"/>
          <p:cNvSpPr txBox="1"/>
          <p:nvPr>
            <p:ph idx="1" type="body"/>
          </p:nvPr>
        </p:nvSpPr>
        <p:spPr>
          <a:xfrm>
            <a:off x="460375" y="1665288"/>
            <a:ext cx="3689400" cy="136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f4a27ef489_0_52:notes"/>
          <p:cNvSpPr txBox="1"/>
          <p:nvPr>
            <p:ph idx="12" type="sldNum"/>
          </p:nvPr>
        </p:nvSpPr>
        <p:spPr>
          <a:xfrm>
            <a:off x="2611438" y="3287713"/>
            <a:ext cx="1997100" cy="173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 txBox="1"/>
          <p:nvPr>
            <p:ph type="title"/>
          </p:nvPr>
        </p:nvSpPr>
        <p:spPr>
          <a:xfrm>
            <a:off x="414680" y="27785"/>
            <a:ext cx="3780739" cy="44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"/>
          <p:cNvSpPr txBox="1"/>
          <p:nvPr>
            <p:ph idx="1" type="body"/>
          </p:nvPr>
        </p:nvSpPr>
        <p:spPr>
          <a:xfrm>
            <a:off x="586295" y="758023"/>
            <a:ext cx="3630929" cy="2073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2" type="sldNum"/>
          </p:nvPr>
        </p:nvSpPr>
        <p:spPr>
          <a:xfrm>
            <a:off x="4228223" y="3327882"/>
            <a:ext cx="303529" cy="122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r>
              <a:rPr lang="fr-FR"/>
              <a:t> / 36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"/>
          <p:cNvSpPr txBox="1"/>
          <p:nvPr>
            <p:ph idx="12" type="sldNum"/>
          </p:nvPr>
        </p:nvSpPr>
        <p:spPr>
          <a:xfrm>
            <a:off x="4228223" y="3327882"/>
            <a:ext cx="303529" cy="122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r>
              <a:rPr lang="fr-FR"/>
              <a:t> / 36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 txBox="1"/>
          <p:nvPr>
            <p:ph type="title"/>
          </p:nvPr>
        </p:nvSpPr>
        <p:spPr>
          <a:xfrm>
            <a:off x="414680" y="27785"/>
            <a:ext cx="3780739" cy="44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12" type="sldNum"/>
          </p:nvPr>
        </p:nvSpPr>
        <p:spPr>
          <a:xfrm>
            <a:off x="4228223" y="3327882"/>
            <a:ext cx="303529" cy="122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r>
              <a:rPr lang="fr-FR"/>
              <a:t> / 36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/>
          <p:nvPr>
            <p:ph type="ctrTitle"/>
          </p:nvPr>
        </p:nvSpPr>
        <p:spPr>
          <a:xfrm>
            <a:off x="440118" y="167015"/>
            <a:ext cx="3729863" cy="416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" type="subTitle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12" type="sldNum"/>
          </p:nvPr>
        </p:nvSpPr>
        <p:spPr>
          <a:xfrm>
            <a:off x="4228223" y="3327882"/>
            <a:ext cx="303529" cy="122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r>
              <a:rPr lang="fr-FR"/>
              <a:t> / 36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/>
          <p:nvPr>
            <p:ph type="title"/>
          </p:nvPr>
        </p:nvSpPr>
        <p:spPr>
          <a:xfrm>
            <a:off x="414680" y="27785"/>
            <a:ext cx="3780739" cy="44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" type="body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2" type="body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2" type="sldNum"/>
          </p:nvPr>
        </p:nvSpPr>
        <p:spPr>
          <a:xfrm>
            <a:off x="4228223" y="3327882"/>
            <a:ext cx="303529" cy="122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r>
              <a:rPr lang="fr-FR"/>
              <a:t> / 36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3050668" y="3264940"/>
            <a:ext cx="43180" cy="30480"/>
          </a:xfrm>
          <a:custGeom>
            <a:rect b="b" l="l" r="r" t="t"/>
            <a:pathLst>
              <a:path extrusionOk="0" h="30479" w="431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" name="Google Shape;11;p1"/>
          <p:cNvSpPr/>
          <p:nvPr/>
        </p:nvSpPr>
        <p:spPr>
          <a:xfrm>
            <a:off x="2971051" y="3260978"/>
            <a:ext cx="25400" cy="38100"/>
          </a:xfrm>
          <a:custGeom>
            <a:rect b="b" l="l" r="r" t="t"/>
            <a:pathLst>
              <a:path extrusionOk="0" h="38100" w="254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" name="Google Shape;12;p1"/>
          <p:cNvSpPr/>
          <p:nvPr/>
        </p:nvSpPr>
        <p:spPr>
          <a:xfrm>
            <a:off x="3148853" y="3260978"/>
            <a:ext cx="25400" cy="38100"/>
          </a:xfrm>
          <a:custGeom>
            <a:rect b="b" l="l" r="r" t="t"/>
            <a:pathLst>
              <a:path extrusionOk="0" h="38100" w="254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" name="Google Shape;13;p1"/>
          <p:cNvSpPr/>
          <p:nvPr/>
        </p:nvSpPr>
        <p:spPr>
          <a:xfrm>
            <a:off x="3308882" y="3254628"/>
            <a:ext cx="64135" cy="50800"/>
          </a:xfrm>
          <a:custGeom>
            <a:rect b="b" l="l" r="r" t="t"/>
            <a:pathLst>
              <a:path extrusionOk="0" h="50800" w="64135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extrusionOk="0" h="50800" w="64135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extrusionOk="0" h="50800" w="64135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" name="Google Shape;14;p1"/>
          <p:cNvSpPr/>
          <p:nvPr/>
        </p:nvSpPr>
        <p:spPr>
          <a:xfrm>
            <a:off x="3245713" y="3260978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" name="Google Shape;15;p1"/>
          <p:cNvSpPr/>
          <p:nvPr/>
        </p:nvSpPr>
        <p:spPr>
          <a:xfrm>
            <a:off x="3609277" y="3267328"/>
            <a:ext cx="38100" cy="0"/>
          </a:xfrm>
          <a:custGeom>
            <a:rect b="b" l="l" r="r" t="t"/>
            <a:pathLst>
              <a:path extrusionOk="0" h="120000"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" name="Google Shape;16;p1"/>
          <p:cNvSpPr/>
          <p:nvPr/>
        </p:nvSpPr>
        <p:spPr>
          <a:xfrm>
            <a:off x="3520376" y="3260978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" name="Google Shape;17;p1"/>
          <p:cNvSpPr/>
          <p:nvPr/>
        </p:nvSpPr>
        <p:spPr>
          <a:xfrm>
            <a:off x="3596577" y="3254628"/>
            <a:ext cx="50800" cy="50800"/>
          </a:xfrm>
          <a:custGeom>
            <a:rect b="b" l="l" r="r" t="t"/>
            <a:pathLst>
              <a:path extrusionOk="0" h="50800" w="50800">
                <a:moveTo>
                  <a:pt x="0" y="0"/>
                </a:moveTo>
                <a:lnTo>
                  <a:pt x="38100" y="0"/>
                </a:lnTo>
              </a:path>
              <a:path extrusionOk="0" h="50800" w="50800">
                <a:moveTo>
                  <a:pt x="12700" y="25400"/>
                </a:moveTo>
                <a:lnTo>
                  <a:pt x="50800" y="25400"/>
                </a:lnTo>
              </a:path>
              <a:path extrusionOk="0" h="50800" w="50800">
                <a:moveTo>
                  <a:pt x="0" y="38100"/>
                </a:moveTo>
                <a:lnTo>
                  <a:pt x="38100" y="38100"/>
                </a:lnTo>
              </a:path>
              <a:path extrusionOk="0" h="50800" w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cap="flat" cmpd="sng" w="9525">
            <a:solidFill>
              <a:srgbClr val="D6D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" name="Google Shape;18;p1"/>
          <p:cNvSpPr/>
          <p:nvPr/>
        </p:nvSpPr>
        <p:spPr>
          <a:xfrm>
            <a:off x="3871227" y="3254628"/>
            <a:ext cx="50800" cy="25400"/>
          </a:xfrm>
          <a:custGeom>
            <a:rect b="b" l="l" r="r" t="t"/>
            <a:pathLst>
              <a:path extrusionOk="0" h="25400" w="50800">
                <a:moveTo>
                  <a:pt x="0" y="0"/>
                </a:moveTo>
                <a:lnTo>
                  <a:pt x="38100" y="0"/>
                </a:lnTo>
              </a:path>
              <a:path extrusionOk="0" h="25400" w="50800">
                <a:moveTo>
                  <a:pt x="12700" y="12700"/>
                </a:moveTo>
                <a:lnTo>
                  <a:pt x="50800" y="12700"/>
                </a:lnTo>
              </a:path>
              <a:path extrusionOk="0" h="25400" w="508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" name="Google Shape;19;p1"/>
          <p:cNvSpPr/>
          <p:nvPr/>
        </p:nvSpPr>
        <p:spPr>
          <a:xfrm>
            <a:off x="3795026" y="3260978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" name="Google Shape;20;p1"/>
          <p:cNvSpPr/>
          <p:nvPr/>
        </p:nvSpPr>
        <p:spPr>
          <a:xfrm>
            <a:off x="3871227" y="3292729"/>
            <a:ext cx="50800" cy="12700"/>
          </a:xfrm>
          <a:custGeom>
            <a:rect b="b" l="l" r="r" t="t"/>
            <a:pathLst>
              <a:path extrusionOk="0" h="12700" w="50800">
                <a:moveTo>
                  <a:pt x="0" y="0"/>
                </a:moveTo>
                <a:lnTo>
                  <a:pt x="38100" y="0"/>
                </a:lnTo>
              </a:path>
              <a:path extrusionOk="0" h="12700" w="508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noFill/>
          <a:ln cap="flat" cmpd="sng" w="9525">
            <a:solidFill>
              <a:srgbClr val="D6D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" name="Google Shape;21;p1"/>
          <p:cNvSpPr/>
          <p:nvPr/>
        </p:nvSpPr>
        <p:spPr>
          <a:xfrm>
            <a:off x="4145890" y="3254628"/>
            <a:ext cx="50800" cy="50800"/>
          </a:xfrm>
          <a:custGeom>
            <a:rect b="b" l="l" r="r" t="t"/>
            <a:pathLst>
              <a:path extrusionOk="0" h="50800" w="50800">
                <a:moveTo>
                  <a:pt x="0" y="0"/>
                </a:moveTo>
                <a:lnTo>
                  <a:pt x="38100" y="0"/>
                </a:lnTo>
              </a:path>
              <a:path extrusionOk="0" h="50800" w="50800">
                <a:moveTo>
                  <a:pt x="12700" y="12700"/>
                </a:moveTo>
                <a:lnTo>
                  <a:pt x="50800" y="12700"/>
                </a:lnTo>
              </a:path>
              <a:path extrusionOk="0" h="50800" w="50800">
                <a:moveTo>
                  <a:pt x="12700" y="25400"/>
                </a:moveTo>
                <a:lnTo>
                  <a:pt x="50800" y="25400"/>
                </a:lnTo>
              </a:path>
              <a:path extrusionOk="0" h="50800" w="50800">
                <a:moveTo>
                  <a:pt x="0" y="38100"/>
                </a:moveTo>
                <a:lnTo>
                  <a:pt x="38100" y="38100"/>
                </a:lnTo>
              </a:path>
              <a:path extrusionOk="0" h="50800" w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" name="Google Shape;22;p1"/>
          <p:cNvSpPr/>
          <p:nvPr/>
        </p:nvSpPr>
        <p:spPr>
          <a:xfrm>
            <a:off x="4451033" y="3285108"/>
            <a:ext cx="20320" cy="20320"/>
          </a:xfrm>
          <a:custGeom>
            <a:rect b="b" l="l" r="r" t="t"/>
            <a:pathLst>
              <a:path extrusionOk="0" h="20320" w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" name="Google Shape;23;p1"/>
          <p:cNvSpPr/>
          <p:nvPr/>
        </p:nvSpPr>
        <p:spPr>
          <a:xfrm>
            <a:off x="4423969" y="3258614"/>
            <a:ext cx="30480" cy="30480"/>
          </a:xfrm>
          <a:custGeom>
            <a:rect b="b" l="l" r="r" t="t"/>
            <a:pathLst>
              <a:path extrusionOk="0" h="30479" w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" name="Google Shape;24;p1"/>
          <p:cNvSpPr/>
          <p:nvPr/>
        </p:nvSpPr>
        <p:spPr>
          <a:xfrm>
            <a:off x="4329112" y="3254628"/>
            <a:ext cx="233679" cy="50800"/>
          </a:xfrm>
          <a:custGeom>
            <a:rect b="b" l="l" r="r" t="t"/>
            <a:pathLst>
              <a:path extrusionOk="0" h="50800" w="233679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extrusionOk="0" h="50800" w="233679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extrusionOk="0" h="50800" w="233679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extrusionOk="0" h="50800" w="233679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" name="Google Shape;25;p1"/>
          <p:cNvSpPr txBox="1"/>
          <p:nvPr>
            <p:ph type="title"/>
          </p:nvPr>
        </p:nvSpPr>
        <p:spPr>
          <a:xfrm>
            <a:off x="414680" y="27785"/>
            <a:ext cx="3780739" cy="44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586295" y="758023"/>
            <a:ext cx="3630929" cy="2073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8" name="Google Shape;28;p1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1"/>
          <p:cNvSpPr txBox="1"/>
          <p:nvPr>
            <p:ph idx="12" type="sldNum"/>
          </p:nvPr>
        </p:nvSpPr>
        <p:spPr>
          <a:xfrm>
            <a:off x="4228223" y="3327882"/>
            <a:ext cx="303529" cy="122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r>
              <a:rPr lang="fr-FR"/>
              <a:t> / 36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 title="Capture d’écran 2026-07-11 à 10.10.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8070"/>
            <a:ext cx="2327750" cy="1835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 title="Capture d’écran 2026-07-11 à 10.15.1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4688" y="2213850"/>
            <a:ext cx="707775" cy="57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8" title="Capture d’écran 2026-07-11 à 10.10.4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05600"/>
            <a:ext cx="1946140" cy="128237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8"/>
          <p:cNvSpPr txBox="1"/>
          <p:nvPr>
            <p:ph idx="4294967295" type="title"/>
          </p:nvPr>
        </p:nvSpPr>
        <p:spPr>
          <a:xfrm>
            <a:off x="0" y="-51400"/>
            <a:ext cx="3868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75">
            <a:spAutoFit/>
          </a:bodyPr>
          <a:lstStyle/>
          <a:p>
            <a:pPr indent="-476884" lvl="0" marL="488950" marR="5080" rtl="0" algn="ctr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alibri"/>
                <a:ea typeface="Calibri"/>
                <a:cs typeface="Calibri"/>
                <a:sym typeface="Calibri"/>
              </a:rPr>
              <a:t>Inferring</a:t>
            </a:r>
            <a:r>
              <a:rPr lang="fr-FR">
                <a:latin typeface="Calibri"/>
                <a:ea typeface="Calibri"/>
                <a:cs typeface="Calibri"/>
                <a:sym typeface="Calibri"/>
              </a:rPr>
              <a:t> the 3D shapes of galaxies inside halos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476884" lvl="0" marL="488950" marR="5080" rtl="0" algn="ctr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alibri"/>
                <a:ea typeface="Calibri"/>
                <a:cs typeface="Calibri"/>
                <a:sym typeface="Calibri"/>
              </a:rPr>
              <a:t>                         with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476884" lvl="0" marL="488950" marR="5080" rtl="0" algn="ctr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476884" lvl="0" marL="488950" marR="5080" rtl="0" algn="ctr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476884" lvl="0" marL="488950" marR="5080" rtl="0" algn="ctr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2905708" y="3186036"/>
            <a:ext cx="1678500" cy="15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9" name="Google Shape;69;p8"/>
          <p:cNvSpPr txBox="1"/>
          <p:nvPr/>
        </p:nvSpPr>
        <p:spPr>
          <a:xfrm>
            <a:off x="2376525" y="437000"/>
            <a:ext cx="13509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Antonin Corinaldi,</a:t>
            </a:r>
            <a:endParaRPr i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CEA Paris-Saclay,</a:t>
            </a:r>
            <a:endParaRPr i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CosmoStat (France)</a:t>
            </a:r>
            <a:endParaRPr i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 txBox="1"/>
          <p:nvPr/>
        </p:nvSpPr>
        <p:spPr>
          <a:xfrm>
            <a:off x="2449925" y="1066450"/>
            <a:ext cx="21882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5080" rtl="0" algn="just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galaxy-halo connection in 3D for intrinsic alignments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8" title="Capture d’écran 2026-07-11 à 10.19.4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55175" y="175325"/>
            <a:ext cx="986775" cy="2872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"/>
          <p:cNvSpPr txBox="1"/>
          <p:nvPr/>
        </p:nvSpPr>
        <p:spPr>
          <a:xfrm>
            <a:off x="2477975" y="1469863"/>
            <a:ext cx="21321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5080" rtl="0" algn="just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Methodology: </a:t>
            </a: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simulation-based inference using a f</a:t>
            </a: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orward model of 3D shapes of galaxies in halos 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 txBox="1"/>
          <p:nvPr/>
        </p:nvSpPr>
        <p:spPr>
          <a:xfrm>
            <a:off x="2063975" y="2816275"/>
            <a:ext cx="25740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5080" rtl="0" algn="just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r>
              <a:rPr lang="fr-FR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 we can constrain the distribution of 3D shapes of galaxies from observations, using simulations.</a:t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 txBox="1"/>
          <p:nvPr/>
        </p:nvSpPr>
        <p:spPr>
          <a:xfrm>
            <a:off x="2752800" y="2470213"/>
            <a:ext cx="2645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5080" rtl="0" algn="just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 txBox="1"/>
          <p:nvPr/>
        </p:nvSpPr>
        <p:spPr>
          <a:xfrm>
            <a:off x="2575875" y="2053750"/>
            <a:ext cx="2062200" cy="7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5080" rtl="0" algn="just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constraints on 3D shapes for 3 galaxy samples from the distributions of ellipticities of galaxies and halos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8" title="Capture d’écran 2026-07-11 à 10.55.29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76200" y="53612"/>
            <a:ext cx="808000" cy="88736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/>
          <p:nvPr/>
        </p:nvSpPr>
        <p:spPr>
          <a:xfrm>
            <a:off x="2332183" y="1102858"/>
            <a:ext cx="124500" cy="166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19200" lIns="38425" spcFirstLastPara="1" rIns="38425" wrap="square" tIns="19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lang="fr-F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2332183" y="1522202"/>
            <a:ext cx="124500" cy="166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19200" lIns="38425" spcFirstLastPara="1" rIns="38425" wrap="square" tIns="19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2332183" y="1522202"/>
            <a:ext cx="124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lang="fr-F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2530683" y="2105597"/>
            <a:ext cx="124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lang="fr-F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2477983" y="2105597"/>
            <a:ext cx="124500" cy="166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19200" lIns="38425" spcFirstLastPara="1" rIns="38425" wrap="square" tIns="19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2477983" y="2105597"/>
            <a:ext cx="124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lang="fr-F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8" title="Capture d’écran 2026-07-11 à 10.32.5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10975" y="2586850"/>
            <a:ext cx="853000" cy="8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